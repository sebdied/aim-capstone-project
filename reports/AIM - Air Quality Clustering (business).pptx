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hyperlink" Target="https://archive.ics.uci.edu/dataset/360/air+quality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5402" y="-2540318"/>
            <a:ext cx="24434804" cy="16289869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Dr. Sebastian Diedrich - March 2026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ctr"/>
          </a:lstStyle>
          <a:p>
            <a:pPr/>
            <a:r>
              <a:t>Dr. Sebastian Diedrich - March 2026</a:t>
            </a:r>
          </a:p>
        </p:txBody>
      </p:sp>
      <p:sp>
        <p:nvSpPr>
          <p:cNvPr id="173" name="Air Quality Clustering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Air Quality Clustering</a:t>
            </a:r>
          </a:p>
        </p:txBody>
      </p:sp>
      <p:sp>
        <p:nvSpPr>
          <p:cNvPr id="174" name="Grouping Air Quality Patterns Across 12 Months in an Italian City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Grouping Air Quality Patterns Across 12 Months in an Italian City</a:t>
            </a:r>
          </a:p>
        </p:txBody>
      </p:sp>
      <p:pic>
        <p:nvPicPr>
          <p:cNvPr id="175" name="pasted-movie.png" descr="pasted-movie.png"/>
          <p:cNvPicPr>
            <a:picLocks noChangeAspect="1"/>
          </p:cNvPicPr>
          <p:nvPr/>
        </p:nvPicPr>
        <p:blipFill>
          <a:blip r:embed="rId3">
            <a:alphaModFix amt="30166"/>
            <a:extLst/>
          </a:blip>
          <a:stretch>
            <a:fillRect/>
          </a:stretch>
        </p:blipFill>
        <p:spPr>
          <a:xfrm>
            <a:off x="19414768" y="-11224"/>
            <a:ext cx="4970892" cy="49708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Air Quality and Health Issue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Air Quality and Health Issues </a:t>
            </a:r>
          </a:p>
        </p:txBody>
      </p:sp>
      <p:sp>
        <p:nvSpPr>
          <p:cNvPr id="178" name="Air pollution is a growing global challenge with severe consequences for public health and economic sustainability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603503" indent="-603503" defTabSz="2413955">
              <a:spcBef>
                <a:spcPts val="4400"/>
              </a:spcBef>
              <a:defRPr sz="4455"/>
            </a:pPr>
            <a:r>
              <a:t>Air pollution is a growing global challenge with severe consequences for public health and economic sustainability. </a:t>
            </a:r>
          </a:p>
          <a:p>
            <a:pPr marL="603503" indent="-603503" defTabSz="2413955">
              <a:spcBef>
                <a:spcPts val="4400"/>
              </a:spcBef>
              <a:defRPr sz="4455"/>
            </a:pPr>
            <a:r>
              <a:t>According to the World Health Organization (WHO), air pollution is responsible for millions of premature deaths each year.</a:t>
            </a:r>
          </a:p>
          <a:p>
            <a:pPr marL="603503" indent="-603503" defTabSz="2413955">
              <a:spcBef>
                <a:spcPts val="4400"/>
              </a:spcBef>
              <a:defRPr sz="4455"/>
            </a:pPr>
            <a:r>
              <a:t>Analyzing and understanding daily air quality data can play a crucial role in addressing these challenges.</a:t>
            </a:r>
          </a:p>
        </p:txBody>
      </p:sp>
      <p:sp>
        <p:nvSpPr>
          <p:cNvPr id="179" name="What is the Problem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/>
            </a:lvl1pPr>
          </a:lstStyle>
          <a:p>
            <a:pPr/>
            <a:r>
              <a:t>What is the Problem?</a:t>
            </a:r>
          </a:p>
        </p:txBody>
      </p:sp>
      <p:pic>
        <p:nvPicPr>
          <p:cNvPr id="18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414440" y="3444709"/>
            <a:ext cx="8256630" cy="8256630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AI generated"/>
          <p:cNvSpPr txBox="1"/>
          <p:nvPr/>
        </p:nvSpPr>
        <p:spPr>
          <a:xfrm>
            <a:off x="19742132" y="11831052"/>
            <a:ext cx="2089888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2600"/>
            </a:lvl1pPr>
          </a:lstStyle>
          <a:p>
            <a:pPr/>
            <a:r>
              <a:t>AI generated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Screenshot 2026-03-24 at 09.13.37.png" descr="Screenshot 2026-03-24 at 09.13.3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80525" y="4433446"/>
            <a:ext cx="11065779" cy="7052627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UC Irvine ML Repository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UC Irvine ML Repository</a:t>
            </a:r>
          </a:p>
        </p:txBody>
      </p:sp>
      <p:sp>
        <p:nvSpPr>
          <p:cNvPr id="185" name="A data set of over 9,000 readings of Chemical Multisensor Devices - recorded from March 2004 to February 2005 (one year) in an Italian city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609599" indent="-609599">
              <a:defRPr sz="4500"/>
            </a:pPr>
            <a:r>
              <a:t>A data set of over 9,000 readings of Chemical Multisensor Devices</a:t>
            </a:r>
            <a:br/>
            <a:r>
              <a:t>- recorded from March 2004 to February 2005 (one year) in an Italian city</a:t>
            </a:r>
          </a:p>
          <a:p>
            <a:pPr marL="609599" indent="-609599">
              <a:defRPr sz="4500"/>
            </a:pPr>
            <a:r>
              <a:t>Features: pollutant levels, temperature, and humidity</a:t>
            </a:r>
          </a:p>
          <a:p>
            <a:pPr marL="609599" indent="-609599">
              <a:defRPr sz="4500"/>
            </a:pPr>
            <a:r>
              <a:t>Source: </a:t>
            </a:r>
            <a:r>
              <a:rPr u="sng">
                <a:hlinkClick r:id="rId3" invalidUrl="" action="" tgtFrame="" tooltip="" history="1" highlightClick="0" endSnd="0"/>
              </a:rPr>
              <a:t>https://archive.ics.uci.edu/dataset/360/air+quality</a:t>
            </a:r>
            <a:r>
              <a:t> Vito, S. (2008)</a:t>
            </a:r>
          </a:p>
        </p:txBody>
      </p:sp>
      <p:sp>
        <p:nvSpPr>
          <p:cNvPr id="186" name="Which Data was used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72588">
              <a:defRPr spc="-144" sz="7225"/>
            </a:lvl1pPr>
          </a:lstStyle>
          <a:p>
            <a:pPr/>
            <a:r>
              <a:t>Which Data was used?</a:t>
            </a:r>
          </a:p>
        </p:txBody>
      </p:sp>
      <p:sp>
        <p:nvSpPr>
          <p:cNvPr id="187" name="Rectangle"/>
          <p:cNvSpPr/>
          <p:nvPr/>
        </p:nvSpPr>
        <p:spPr>
          <a:xfrm>
            <a:off x="11784443" y="10242578"/>
            <a:ext cx="11057942" cy="1270001"/>
          </a:xfrm>
          <a:prstGeom prst="rect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Air Quality Cluster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Air Quality Clustering</a:t>
            </a:r>
          </a:p>
        </p:txBody>
      </p:sp>
      <p:sp>
        <p:nvSpPr>
          <p:cNvPr id="190" name="Gaining insights, so actionable recommendations (low, moderate, high pollution level) can be provided to the public to reduce exposure to harmful pollutants.…"/>
          <p:cNvSpPr txBox="1"/>
          <p:nvPr>
            <p:ph type="body" idx="1"/>
          </p:nvPr>
        </p:nvSpPr>
        <p:spPr>
          <a:xfrm>
            <a:off x="1206500" y="4248504"/>
            <a:ext cx="22564045" cy="8256630"/>
          </a:xfrm>
          <a:prstGeom prst="rect">
            <a:avLst/>
          </a:prstGeom>
        </p:spPr>
        <p:txBody>
          <a:bodyPr/>
          <a:lstStyle/>
          <a:p>
            <a:pPr marL="609599" indent="-609599">
              <a:defRPr sz="4500"/>
            </a:pPr>
            <a:r>
              <a:t>Gaining insights, so actionable </a:t>
            </a:r>
            <a:r>
              <a:rPr b="1"/>
              <a:t>recommendations</a:t>
            </a:r>
            <a:r>
              <a:t> (</a:t>
            </a:r>
            <a:r>
              <a:rPr i="1"/>
              <a:t>low</a:t>
            </a:r>
            <a:r>
              <a:t>, </a:t>
            </a:r>
            <a:r>
              <a:rPr i="1"/>
              <a:t>moderate</a:t>
            </a:r>
            <a:r>
              <a:t>, </a:t>
            </a:r>
            <a:r>
              <a:rPr i="1"/>
              <a:t>high</a:t>
            </a:r>
            <a:r>
              <a:t> pollution level) can be provided to the public to reduce exposure to harmful pollutants. </a:t>
            </a:r>
          </a:p>
          <a:p>
            <a:pPr marL="609599" indent="-609599">
              <a:defRPr sz="4500"/>
            </a:pPr>
            <a:r>
              <a:t>For example, guidance can be given on when to avoid leaving the house or which times of day are safest for outdoor physical activities such as exercise.</a:t>
            </a:r>
          </a:p>
          <a:p>
            <a:pPr marL="609599" indent="-609599">
              <a:defRPr sz="4500"/>
            </a:pPr>
            <a:r>
              <a:t>In addition, weather forecasts combined with air quality predictions can be used proactively by authorities to manage traffic and industrial activity before pollution levels rise too high. </a:t>
            </a:r>
          </a:p>
          <a:p>
            <a:pPr marL="609599" indent="-609599">
              <a:defRPr sz="4500"/>
            </a:pPr>
            <a:r>
              <a:t>This preventive approach can help protect public health while reducing long-term healthcare costs.</a:t>
            </a:r>
          </a:p>
        </p:txBody>
      </p:sp>
      <p:sp>
        <p:nvSpPr>
          <p:cNvPr id="191" name="What is the Goal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the Goal?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isk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Risks</a:t>
            </a:r>
          </a:p>
        </p:txBody>
      </p:sp>
      <p:sp>
        <p:nvSpPr>
          <p:cNvPr id="194" name="What is a low, moderate or high pollution level?…"/>
          <p:cNvSpPr txBox="1"/>
          <p:nvPr>
            <p:ph type="body" sz="half" idx="1"/>
          </p:nvPr>
        </p:nvSpPr>
        <p:spPr>
          <a:xfrm>
            <a:off x="1206500" y="4248504"/>
            <a:ext cx="9564719" cy="8383927"/>
          </a:xfrm>
          <a:prstGeom prst="rect">
            <a:avLst/>
          </a:prstGeom>
        </p:spPr>
        <p:txBody>
          <a:bodyPr/>
          <a:lstStyle/>
          <a:p>
            <a:pPr marL="609599" indent="-609599">
              <a:defRPr sz="4500"/>
            </a:pPr>
            <a:r>
              <a:t>What is a low, moderate or high pollution level? </a:t>
            </a:r>
          </a:p>
          <a:p>
            <a:pPr marL="609599" indent="-609599">
              <a:defRPr sz="4500"/>
            </a:pPr>
            <a:r>
              <a:t>Dataset is only from one location - no comparison between different locations possible.</a:t>
            </a:r>
          </a:p>
          <a:p>
            <a:pPr marL="609599" indent="-609599">
              <a:defRPr sz="4500"/>
            </a:pPr>
            <a:r>
              <a:t>Data is approx. 20 years old - still worth to cluster it?</a:t>
            </a:r>
          </a:p>
          <a:p>
            <a:pPr marL="609599" indent="-609599">
              <a:defRPr sz="4500"/>
            </a:pPr>
            <a:r>
              <a:t>How can the results be published to the public?</a:t>
            </a:r>
          </a:p>
        </p:txBody>
      </p:sp>
      <p:sp>
        <p:nvSpPr>
          <p:cNvPr id="195" name="What is the Challenge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72588">
              <a:defRPr spc="-144" sz="7225"/>
            </a:lvl1pPr>
          </a:lstStyle>
          <a:p>
            <a:pPr/>
            <a:r>
              <a:t>What is the Challenge?</a:t>
            </a:r>
          </a:p>
        </p:txBody>
      </p:sp>
      <p:pic>
        <p:nvPicPr>
          <p:cNvPr id="19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80626" y="4099731"/>
            <a:ext cx="10496713" cy="6997808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AI generated"/>
          <p:cNvSpPr txBox="1"/>
          <p:nvPr/>
        </p:nvSpPr>
        <p:spPr>
          <a:xfrm>
            <a:off x="20425796" y="11109407"/>
            <a:ext cx="2089888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2600"/>
            </a:lvl1pPr>
          </a:lstStyle>
          <a:p>
            <a:pPr/>
            <a:r>
              <a:t>AI generated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trategy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Strategy</a:t>
            </a:r>
          </a:p>
        </p:txBody>
      </p:sp>
      <p:sp>
        <p:nvSpPr>
          <p:cNvPr id="200" name="What is a low, moderate or high pollution level?  -&gt; Adding WHO thresholds for air pollution can help to get a meaningful cluster…"/>
          <p:cNvSpPr txBox="1"/>
          <p:nvPr>
            <p:ph type="body" sz="half" idx="1"/>
          </p:nvPr>
        </p:nvSpPr>
        <p:spPr>
          <a:xfrm>
            <a:off x="1206500" y="4248504"/>
            <a:ext cx="9779000" cy="8383927"/>
          </a:xfrm>
          <a:prstGeom prst="rect">
            <a:avLst/>
          </a:prstGeom>
        </p:spPr>
        <p:txBody>
          <a:bodyPr/>
          <a:lstStyle/>
          <a:p>
            <a:pPr marL="609599" indent="-609599">
              <a:defRPr sz="3000"/>
            </a:pPr>
            <a:r>
              <a:t>What is a low, moderate or high pollution level? </a:t>
            </a:r>
            <a:br/>
            <a:r>
              <a:t>-&gt; </a:t>
            </a:r>
            <a:r>
              <a:rPr b="1"/>
              <a:t>Adding WHO thresholds for air pollution can help to get a meaningful cluster</a:t>
            </a:r>
          </a:p>
          <a:p>
            <a:pPr marL="609599" indent="-609599">
              <a:defRPr sz="3000"/>
            </a:pPr>
            <a:r>
              <a:t>Dataset is only from one location - no comparison between different locations possible.</a:t>
            </a:r>
            <a:br/>
            <a:r>
              <a:t>-&gt; </a:t>
            </a:r>
            <a:r>
              <a:rPr b="1"/>
              <a:t>Gaining insights into how pollution levels may </a:t>
            </a:r>
            <a:r>
              <a:rPr b="1" i="1"/>
              <a:t>vary by time of day</a:t>
            </a:r>
            <a:r>
              <a:rPr b="1"/>
              <a:t> and across seasons at this location</a:t>
            </a:r>
            <a:endParaRPr b="1"/>
          </a:p>
          <a:p>
            <a:pPr marL="609599" indent="-609599">
              <a:defRPr sz="3000"/>
            </a:pPr>
            <a:r>
              <a:t>Data is approx. 20 years old - still worth to cluster it?</a:t>
            </a:r>
            <a:br/>
            <a:r>
              <a:t>-&gt; </a:t>
            </a:r>
            <a:r>
              <a:rPr b="1"/>
              <a:t>Dataset has over 9,000 measurement points.</a:t>
            </a:r>
            <a:br>
              <a:rPr b="1"/>
            </a:br>
            <a:r>
              <a:rPr b="1"/>
              <a:t>Good for a proof-of concept!</a:t>
            </a:r>
            <a:endParaRPr b="1"/>
          </a:p>
          <a:p>
            <a:pPr marL="609599" indent="-609599">
              <a:defRPr sz="3000"/>
            </a:pPr>
            <a:r>
              <a:t>How can the results be published to the public?</a:t>
            </a:r>
            <a:br/>
            <a:r>
              <a:t>-&gt; </a:t>
            </a:r>
            <a:r>
              <a:rPr b="1"/>
              <a:t>Providing an API or even better a ChatBot with live pollution data that can answer questions like: “What is a good time and location for a run?”</a:t>
            </a:r>
          </a:p>
        </p:txBody>
      </p:sp>
      <p:sp>
        <p:nvSpPr>
          <p:cNvPr id="201" name="What is the Challenge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72588">
              <a:defRPr spc="-144" sz="7225"/>
            </a:lvl1pPr>
          </a:lstStyle>
          <a:p>
            <a:pPr/>
            <a:r>
              <a:t>What is the Challenge?</a:t>
            </a:r>
          </a:p>
        </p:txBody>
      </p:sp>
      <p:pic>
        <p:nvPicPr>
          <p:cNvPr id="20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80626" y="4099731"/>
            <a:ext cx="10496713" cy="6997808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AI generated"/>
          <p:cNvSpPr txBox="1"/>
          <p:nvPr/>
        </p:nvSpPr>
        <p:spPr>
          <a:xfrm>
            <a:off x="20425796" y="11109407"/>
            <a:ext cx="2089888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2600"/>
            </a:lvl1pPr>
          </a:lstStyle>
          <a:p>
            <a:pPr/>
            <a:r>
              <a:t>AI generated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leaning and handling error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Cleaning and handling errors</a:t>
            </a:r>
          </a:p>
        </p:txBody>
      </p:sp>
      <p:sp>
        <p:nvSpPr>
          <p:cNvPr id="206" name="The data could be cleaned without losing data via interpolation…"/>
          <p:cNvSpPr txBox="1"/>
          <p:nvPr>
            <p:ph type="body" sz="half" idx="1"/>
          </p:nvPr>
        </p:nvSpPr>
        <p:spPr>
          <a:xfrm>
            <a:off x="1206500" y="4248504"/>
            <a:ext cx="11991845" cy="8149252"/>
          </a:xfrm>
          <a:prstGeom prst="rect">
            <a:avLst/>
          </a:prstGeom>
        </p:spPr>
        <p:txBody>
          <a:bodyPr/>
          <a:lstStyle/>
          <a:p>
            <a:pPr marL="536447" indent="-536447" defTabSz="2145738">
              <a:spcBef>
                <a:spcPts val="3900"/>
              </a:spcBef>
              <a:defRPr sz="3959"/>
            </a:pPr>
            <a:r>
              <a:t>The data could be cleaned without losing data via interpolation </a:t>
            </a:r>
          </a:p>
          <a:p>
            <a:pPr marL="536447" indent="-536447" defTabSz="2145738">
              <a:spcBef>
                <a:spcPts val="3900"/>
              </a:spcBef>
              <a:defRPr sz="3959"/>
            </a:pPr>
            <a:r>
              <a:t>Only one pollutant (Non Metanic Hydro Carbons) had to be excluded because of 90% error readings</a:t>
            </a:r>
          </a:p>
          <a:p>
            <a:pPr marL="536447" indent="-536447" defTabSz="2145738">
              <a:spcBef>
                <a:spcPts val="3900"/>
              </a:spcBef>
              <a:defRPr sz="3959"/>
            </a:pPr>
            <a:r>
              <a:t>The dataset was also augmented with features derived from the World Health Organization (WHO) toxin threshold guidelines</a:t>
            </a:r>
          </a:p>
          <a:p>
            <a:pPr marL="536447" indent="-536447" defTabSz="2145738">
              <a:spcBef>
                <a:spcPts val="3900"/>
              </a:spcBef>
              <a:defRPr sz="3959"/>
            </a:pPr>
            <a:r>
              <a:t>Additional features were introduced to examine potential seasonal and daily patterns associated with fluctuations in toxin concentrations, like Month or HourOfDay</a:t>
            </a:r>
          </a:p>
        </p:txBody>
      </p:sp>
      <p:sp>
        <p:nvSpPr>
          <p:cNvPr id="207" name="Data Qual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Quality </a:t>
            </a:r>
          </a:p>
        </p:txBody>
      </p:sp>
      <p:pic>
        <p:nvPicPr>
          <p:cNvPr id="20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66942" t="0" r="0" b="0"/>
          <a:stretch>
            <a:fillRect/>
          </a:stretch>
        </p:blipFill>
        <p:spPr>
          <a:xfrm>
            <a:off x="14231493" y="3970966"/>
            <a:ext cx="7560731" cy="7526565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Distribution after cleaning and interpolation"/>
          <p:cNvSpPr txBox="1"/>
          <p:nvPr/>
        </p:nvSpPr>
        <p:spPr>
          <a:xfrm>
            <a:off x="14541878" y="11630937"/>
            <a:ext cx="7806618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3000"/>
            </a:lvl1pPr>
          </a:lstStyle>
          <a:p>
            <a:pPr/>
            <a:r>
              <a:t>Distribution after cleaning and interpolation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Unsupervised: Cluster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Unsupervised: Clustering</a:t>
            </a:r>
          </a:p>
        </p:txBody>
      </p:sp>
      <p:sp>
        <p:nvSpPr>
          <p:cNvPr id="212" name="Two clustering methods were applied: K-Means and DBSCAN.…"/>
          <p:cNvSpPr txBox="1"/>
          <p:nvPr>
            <p:ph type="body" sz="half" idx="1"/>
          </p:nvPr>
        </p:nvSpPr>
        <p:spPr>
          <a:xfrm>
            <a:off x="1206500" y="4248504"/>
            <a:ext cx="11707727" cy="8334151"/>
          </a:xfrm>
          <a:prstGeom prst="rect">
            <a:avLst/>
          </a:prstGeom>
        </p:spPr>
        <p:txBody>
          <a:bodyPr/>
          <a:lstStyle/>
          <a:p>
            <a:pPr marL="609599" indent="-609599">
              <a:defRPr sz="4500"/>
            </a:pPr>
            <a:r>
              <a:t>Two clustering methods were applied: K-Means and DBSCAN. </a:t>
            </a:r>
          </a:p>
          <a:p>
            <a:pPr marL="609599" indent="-609599">
              <a:defRPr sz="4500"/>
            </a:pPr>
            <a:r>
              <a:t>K-Means was performed on both the original dataset and the dataset augmented with additional WHO thresholds. </a:t>
            </a:r>
          </a:p>
          <a:p>
            <a:pPr marL="609599" indent="-609599">
              <a:defRPr sz="4500"/>
            </a:pPr>
            <a:r>
              <a:t>However, the Silhouette Score was relatively low, indicating that the data is not well-suited for clearly defined clustering.</a:t>
            </a:r>
          </a:p>
        </p:txBody>
      </p:sp>
      <p:sp>
        <p:nvSpPr>
          <p:cNvPr id="213" name="Model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Modeling</a:t>
            </a:r>
          </a:p>
        </p:txBody>
      </p:sp>
      <p:sp>
        <p:nvSpPr>
          <p:cNvPr id="214" name="b) K-Means: Threshold features included"/>
          <p:cNvSpPr txBox="1"/>
          <p:nvPr/>
        </p:nvSpPr>
        <p:spPr>
          <a:xfrm>
            <a:off x="14807747" y="11806364"/>
            <a:ext cx="7806618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3000"/>
            </a:lvl1pPr>
          </a:lstStyle>
          <a:p>
            <a:pPr/>
            <a:r>
              <a:t>b) K-Means: Threshold features included</a:t>
            </a:r>
          </a:p>
        </p:txBody>
      </p:sp>
      <p:sp>
        <p:nvSpPr>
          <p:cNvPr id="215" name="a) K-Means: ’Raw’ data from UCI"/>
          <p:cNvSpPr txBox="1"/>
          <p:nvPr/>
        </p:nvSpPr>
        <p:spPr>
          <a:xfrm>
            <a:off x="14807747" y="7622485"/>
            <a:ext cx="7806618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3000"/>
            </a:lvl1pPr>
          </a:lstStyle>
          <a:p>
            <a:pPr/>
            <a:r>
              <a:t>a) K-Means: ’Raw’ data from UCI</a:t>
            </a:r>
          </a:p>
        </p:txBody>
      </p:sp>
      <p:pic>
        <p:nvPicPr>
          <p:cNvPr id="21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485892" y="3935026"/>
            <a:ext cx="5742125" cy="37347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485892" y="8214214"/>
            <a:ext cx="5742124" cy="37347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lustering result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Clustering results</a:t>
            </a:r>
          </a:p>
        </p:txBody>
      </p:sp>
      <p:sp>
        <p:nvSpPr>
          <p:cNvPr id="220" name="Comparison K-Means vs DBSCAN K-Means: 3 clusters (forced) DBSCAN: 2 clusters + noise…"/>
          <p:cNvSpPr txBox="1"/>
          <p:nvPr>
            <p:ph type="body" sz="half" idx="1"/>
          </p:nvPr>
        </p:nvSpPr>
        <p:spPr>
          <a:xfrm>
            <a:off x="1206500" y="4248504"/>
            <a:ext cx="10352492" cy="8149252"/>
          </a:xfrm>
          <a:prstGeom prst="rect">
            <a:avLst/>
          </a:prstGeom>
        </p:spPr>
        <p:txBody>
          <a:bodyPr/>
          <a:lstStyle/>
          <a:p>
            <a:pPr marL="609599" indent="-609599">
              <a:defRPr sz="4500"/>
            </a:pPr>
            <a:r>
              <a:t>Comparison K-Means vs DBSCAN</a:t>
            </a:r>
            <a:br/>
            <a:r>
              <a:t>K-Means: 3 clusters (forced)</a:t>
            </a:r>
            <a:br/>
            <a:r>
              <a:t>DBSCAN: 2 clusters + noise</a:t>
            </a:r>
          </a:p>
          <a:p>
            <a:pPr marL="609599" indent="-609599">
              <a:defRPr sz="4500"/>
            </a:pPr>
            <a:r>
              <a:t>The K-Means clustering method was able to identify </a:t>
            </a:r>
            <a:r>
              <a:rPr b="1"/>
              <a:t>three clusters</a:t>
            </a:r>
            <a:r>
              <a:t>, achieving the initial goal of distinguishing </a:t>
            </a:r>
            <a:r>
              <a:rPr b="1"/>
              <a:t>low</a:t>
            </a:r>
            <a:r>
              <a:t>, </a:t>
            </a:r>
            <a:r>
              <a:rPr b="1"/>
              <a:t>moderate</a:t>
            </a:r>
            <a:r>
              <a:t>, and </a:t>
            </a:r>
            <a:r>
              <a:rPr b="1"/>
              <a:t>high</a:t>
            </a:r>
            <a:r>
              <a:t> pollution density levels</a:t>
            </a:r>
          </a:p>
          <a:p>
            <a:pPr marL="609599" indent="-609599">
              <a:defRPr sz="4500"/>
            </a:pPr>
            <a:r>
              <a:t>ChatGPT assisted in interpreting the identified clusters</a:t>
            </a:r>
          </a:p>
        </p:txBody>
      </p:sp>
      <p:sp>
        <p:nvSpPr>
          <p:cNvPr id="221" name="Evalu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Evaluation</a:t>
            </a:r>
          </a:p>
        </p:txBody>
      </p:sp>
      <p:sp>
        <p:nvSpPr>
          <p:cNvPr id="222" name="Interpretation of the identified clusters using ChatGPT - K-Means (without predefined pollutant thresholds)"/>
          <p:cNvSpPr txBox="1"/>
          <p:nvPr/>
        </p:nvSpPr>
        <p:spPr>
          <a:xfrm>
            <a:off x="13170675" y="10507296"/>
            <a:ext cx="9779001" cy="960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i="1" sz="3000"/>
            </a:pPr>
            <a:r>
              <a:t>Interpretation of the identified clusters using ChatGPT -</a:t>
            </a:r>
            <a:br/>
            <a:r>
              <a:t>K-Means (without predefined pollutant thresholds)</a:t>
            </a:r>
          </a:p>
        </p:txBody>
      </p:sp>
      <p:pic>
        <p:nvPicPr>
          <p:cNvPr id="223" name="Screenshot 2026-03-25 at 09.59.38.png" descr="Screenshot 2026-03-25 at 09.59.3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51498" y="5397500"/>
            <a:ext cx="11217353" cy="4772174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Rectangle"/>
          <p:cNvSpPr/>
          <p:nvPr/>
        </p:nvSpPr>
        <p:spPr>
          <a:xfrm>
            <a:off x="1624887" y="4950922"/>
            <a:ext cx="8703358" cy="612024"/>
          </a:xfrm>
          <a:prstGeom prst="rect">
            <a:avLst/>
          </a:prstGeom>
          <a:ln w="635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With or Without threshold features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668655">
              <a:defRPr sz="4455"/>
            </a:lvl1pPr>
          </a:lstStyle>
          <a:p>
            <a:pPr/>
            <a:r>
              <a:t>With or Without threshold features?</a:t>
            </a:r>
          </a:p>
        </p:txBody>
      </p:sp>
      <p:sp>
        <p:nvSpPr>
          <p:cNvPr id="227" name="Incorporating WHO thresholds (4.2 in the graph) made the cluster patterns in the graphs more distinct…"/>
          <p:cNvSpPr txBox="1"/>
          <p:nvPr>
            <p:ph type="body" sz="half" idx="1"/>
          </p:nvPr>
        </p:nvSpPr>
        <p:spPr>
          <a:xfrm>
            <a:off x="1206500" y="4248504"/>
            <a:ext cx="10786087" cy="7502025"/>
          </a:xfrm>
          <a:prstGeom prst="rect">
            <a:avLst/>
          </a:prstGeom>
        </p:spPr>
        <p:txBody>
          <a:bodyPr/>
          <a:lstStyle/>
          <a:p>
            <a:pPr marL="609599" indent="-609599">
              <a:defRPr sz="4500"/>
            </a:pPr>
            <a:r>
              <a:t>Incorporating WHO thresholds (4.2 in the graph) made the cluster patterns in the graphs more distinct</a:t>
            </a:r>
          </a:p>
          <a:p>
            <a:pPr marL="609599" indent="-609599">
              <a:defRPr sz="4500"/>
            </a:pPr>
            <a:r>
              <a:rPr b="1"/>
              <a:t>Low cluster:</a:t>
            </a:r>
            <a:r>
              <a:t> 2 out of 4 thresholds were elevated</a:t>
            </a:r>
          </a:p>
          <a:p>
            <a:pPr marL="609599" indent="-609599">
              <a:defRPr sz="4500"/>
            </a:pPr>
            <a:r>
              <a:rPr b="1"/>
              <a:t>Moderate cluster:</a:t>
            </a:r>
            <a:r>
              <a:t> 3 out of 4 thresholds were elevated</a:t>
            </a:r>
          </a:p>
          <a:p>
            <a:pPr marL="609599" indent="-609599">
              <a:defRPr sz="4500"/>
            </a:pPr>
            <a:r>
              <a:rPr b="1"/>
              <a:t>High cluster:</a:t>
            </a:r>
            <a:r>
              <a:t> All thresholds were elevated</a:t>
            </a:r>
          </a:p>
        </p:txBody>
      </p:sp>
      <p:sp>
        <p:nvSpPr>
          <p:cNvPr id="228" name="Evalu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Evaluation</a:t>
            </a:r>
          </a:p>
        </p:txBody>
      </p:sp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90597" y="1883955"/>
            <a:ext cx="7435611" cy="4836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009028" y="7052225"/>
            <a:ext cx="7658280" cy="4750073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Threshold feature produced more Moderate and less High pollution cluster size"/>
          <p:cNvSpPr txBox="1"/>
          <p:nvPr/>
        </p:nvSpPr>
        <p:spPr>
          <a:xfrm>
            <a:off x="14389952" y="11928052"/>
            <a:ext cx="7806618" cy="960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3000"/>
            </a:lvl1pPr>
          </a:lstStyle>
          <a:p>
            <a:pPr/>
            <a:r>
              <a:t>Threshold feature produced more Moderate and less High pollution cluster size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pasted-movie.png" descr="pasted-movie.png"/>
          <p:cNvPicPr>
            <a:picLocks noChangeAspect="1"/>
          </p:cNvPicPr>
          <p:nvPr/>
        </p:nvPicPr>
        <p:blipFill>
          <a:blip r:embed="rId2">
            <a:alphaModFix amt="39863"/>
            <a:extLst/>
          </a:blip>
          <a:stretch>
            <a:fillRect/>
          </a:stretch>
        </p:blipFill>
        <p:spPr>
          <a:xfrm>
            <a:off x="15235253" y="0"/>
            <a:ext cx="9144001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YES!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YES!</a:t>
            </a:r>
          </a:p>
        </p:txBody>
      </p:sp>
      <p:sp>
        <p:nvSpPr>
          <p:cNvPr id="235" name="It was possible to find 3 clusters mapping them to low, moderate and high pollution levels…"/>
          <p:cNvSpPr txBox="1"/>
          <p:nvPr>
            <p:ph type="body" sz="half" idx="1"/>
          </p:nvPr>
        </p:nvSpPr>
        <p:spPr>
          <a:xfrm>
            <a:off x="1225490" y="4305476"/>
            <a:ext cx="10786088" cy="7502025"/>
          </a:xfrm>
          <a:prstGeom prst="rect">
            <a:avLst/>
          </a:prstGeom>
        </p:spPr>
        <p:txBody>
          <a:bodyPr/>
          <a:lstStyle/>
          <a:p>
            <a:pPr marL="457199" indent="-457199" defTabSz="1828754">
              <a:spcBef>
                <a:spcPts val="3300"/>
              </a:spcBef>
              <a:defRPr sz="3375"/>
            </a:pPr>
            <a:r>
              <a:t>It was possible to find 3 clusters mapping them to </a:t>
            </a:r>
            <a:r>
              <a:rPr b="1"/>
              <a:t>low</a:t>
            </a:r>
            <a:r>
              <a:t>, </a:t>
            </a:r>
            <a:r>
              <a:rPr b="1"/>
              <a:t>moderate</a:t>
            </a:r>
            <a:r>
              <a:t> and </a:t>
            </a:r>
            <a:r>
              <a:rPr b="1"/>
              <a:t>high</a:t>
            </a:r>
            <a:r>
              <a:t> pollution levels</a:t>
            </a:r>
          </a:p>
          <a:p>
            <a:pPr marL="457199" indent="-457199" defTabSz="1828754">
              <a:spcBef>
                <a:spcPts val="3300"/>
              </a:spcBef>
              <a:defRPr sz="3375"/>
            </a:pPr>
            <a:r>
              <a:t>Adding thresholds was a good way to challenge and validate the results of the first run on the ‘raw’ data</a:t>
            </a:r>
          </a:p>
          <a:p>
            <a:pPr marL="457199" indent="-457199" defTabSz="1828754">
              <a:spcBef>
                <a:spcPts val="3300"/>
              </a:spcBef>
              <a:defRPr sz="3375"/>
            </a:pPr>
            <a:r>
              <a:rPr b="1"/>
              <a:t>BUT: Even in the ‘low’ cluster we see 2 of 4 thresholds were met! Indicating that the air quality in this spot is not really good at all</a:t>
            </a:r>
            <a:endParaRPr b="1"/>
          </a:p>
          <a:p>
            <a:pPr marL="457199" indent="-457199" defTabSz="1828754">
              <a:spcBef>
                <a:spcPts val="3300"/>
              </a:spcBef>
              <a:defRPr sz="3375"/>
            </a:pPr>
            <a:r>
              <a:t>Unfortunately we could hardly see a daily or seasonal effect in the data concerning clustering. </a:t>
            </a:r>
            <a:br/>
            <a:r>
              <a:t>“The air is cleaner in the morning” is not really a great insight!</a:t>
            </a:r>
          </a:p>
          <a:p>
            <a:pPr marL="457199" indent="-457199" defTabSz="1828754">
              <a:spcBef>
                <a:spcPts val="3300"/>
              </a:spcBef>
              <a:defRPr sz="3375"/>
            </a:pPr>
            <a:r>
              <a:t>At the moment we just have an API for checking data</a:t>
            </a:r>
          </a:p>
        </p:txBody>
      </p:sp>
      <p:sp>
        <p:nvSpPr>
          <p:cNvPr id="236" name="Success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Success?</a:t>
            </a:r>
          </a:p>
        </p:txBody>
      </p:sp>
      <p:sp>
        <p:nvSpPr>
          <p:cNvPr id="237" name="The trained model can be used to check other pollutants values (of other locations) and get quickly an answer to the question how ‘good’ the air quality is…"/>
          <p:cNvSpPr txBox="1"/>
          <p:nvPr/>
        </p:nvSpPr>
        <p:spPr>
          <a:xfrm>
            <a:off x="12689911" y="4248504"/>
            <a:ext cx="8439184" cy="4368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457199" indent="-457199" defTabSz="1828754">
              <a:spcBef>
                <a:spcPts val="3300"/>
              </a:spcBef>
              <a:buSzPct val="123000"/>
              <a:buChar char="•"/>
              <a:defRPr sz="3375"/>
            </a:pPr>
            <a:r>
              <a:t>The </a:t>
            </a:r>
            <a:r>
              <a:rPr b="1"/>
              <a:t>trained model</a:t>
            </a:r>
            <a:r>
              <a:t> can be used to check </a:t>
            </a:r>
            <a:r>
              <a:rPr i="1"/>
              <a:t>other</a:t>
            </a:r>
            <a:r>
              <a:t> pollutants values (of other locations) and get quickly an answer to the question how ‘good’ the air quality is</a:t>
            </a:r>
          </a:p>
          <a:p>
            <a:pPr marL="457199" indent="-457199" defTabSz="1828754">
              <a:spcBef>
                <a:spcPts val="3300"/>
              </a:spcBef>
              <a:buSzPct val="123000"/>
              <a:buChar char="•"/>
              <a:defRPr sz="3375"/>
            </a:pPr>
            <a:r>
              <a:t>In the future it would be great to have a ChatBot that can answer questions about air quality in Italy or other cities in the world!</a:t>
            </a:r>
          </a:p>
        </p:txBody>
      </p:sp>
      <p:pic>
        <p:nvPicPr>
          <p:cNvPr id="238" name="Screenshot 2026-03-25 at 12.18.28.png" descr="Screenshot 2026-03-25 at 12.18.28.png"/>
          <p:cNvPicPr>
            <a:picLocks noChangeAspect="1"/>
          </p:cNvPicPr>
          <p:nvPr/>
        </p:nvPicPr>
        <p:blipFill>
          <a:blip r:embed="rId3">
            <a:alphaModFix amt="78331"/>
            <a:extLst/>
          </a:blip>
          <a:stretch>
            <a:fillRect/>
          </a:stretch>
        </p:blipFill>
        <p:spPr>
          <a:xfrm>
            <a:off x="13095935" y="9034357"/>
            <a:ext cx="7750205" cy="3439153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Arrow"/>
          <p:cNvSpPr/>
          <p:nvPr/>
        </p:nvSpPr>
        <p:spPr>
          <a:xfrm>
            <a:off x="12259654" y="10818738"/>
            <a:ext cx="1564059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